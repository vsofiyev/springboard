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411" autoAdjust="0"/>
  </p:normalViewPr>
  <p:slideViewPr>
    <p:cSldViewPr snapToGrid="0" snapToObjects="1">
      <p:cViewPr varScale="1">
        <p:scale>
          <a:sx n="66" d="100"/>
          <a:sy n="66" d="100"/>
        </p:scale>
        <p:origin x="644" y="2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72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74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805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56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0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2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5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5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2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1639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90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8094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355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29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7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7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E42028-548D-C22A-434A-D82274C164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32" r="30680"/>
          <a:stretch>
            <a:fillRect/>
          </a:stretch>
        </p:blipFill>
        <p:spPr>
          <a:xfrm>
            <a:off x="15240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6249" y="2601532"/>
            <a:ext cx="5002950" cy="124233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/>
              <a:t>Big Mountain Resort Ticket Pricing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70220" y="4254034"/>
            <a:ext cx="2920080" cy="1096899"/>
          </a:xfrm>
        </p:spPr>
        <p:txBody>
          <a:bodyPr>
            <a:noAutofit/>
          </a:bodyPr>
          <a:lstStyle/>
          <a:p>
            <a:pPr algn="l"/>
            <a:r>
              <a:rPr dirty="0"/>
              <a:t>Executive Summary &amp; Recommendations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algn="l"/>
            <a:r>
              <a:rPr lang="en-US" dirty="0"/>
              <a:t>Vladimir Sofiyev, Ph.D.</a:t>
            </a:r>
          </a:p>
          <a:p>
            <a:pPr algn="l"/>
            <a:r>
              <a:rPr lang="en-US" dirty="0"/>
              <a:t>March 10, 2026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itefish Mountain Resort">
            <a:extLst>
              <a:ext uri="{FF2B5EF4-FFF2-40B4-BE49-F238E27FC236}">
                <a16:creationId xmlns:a16="http://schemas.microsoft.com/office/drawing/2014/main" id="{70E1B643-D0B2-894D-5375-5C2FD10FD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62"/>
          <a:stretch>
            <a:fillRect/>
          </a:stretch>
        </p:blipFill>
        <p:spPr bwMode="auto"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dirty="0"/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dirty="0"/>
              <a:t>Installation of an additional chair increased annual operating costs by $1.54M</a:t>
            </a:r>
          </a:p>
          <a:p>
            <a:pPr lvl="1"/>
            <a:r>
              <a:rPr dirty="0"/>
              <a:t>Objective: Determine optimal lift ticket pricing to maintain competitiveness and profitability</a:t>
            </a:r>
          </a:p>
          <a:p>
            <a:pPr lvl="1"/>
            <a:r>
              <a:rPr dirty="0"/>
              <a:t>Analysis based on competitive market positioning and data-driven modeling</a:t>
            </a:r>
            <a:r>
              <a:rPr lang="en-US" dirty="0"/>
              <a:t> starting from a database of all US resorts</a:t>
            </a:r>
            <a:endParaRPr dirty="0"/>
          </a:p>
        </p:txBody>
      </p:sp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9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1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3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5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7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9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71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700ABBF-C753-101E-83AB-F854B6A0E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8" r="25325" b="1"/>
          <a:stretch>
            <a:fillRect/>
          </a:stretch>
        </p:blipFill>
        <p:spPr bwMode="auto"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dirty="0"/>
              <a:t>Primary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1" y="2160589"/>
            <a:ext cx="4411133" cy="3880773"/>
          </a:xfrm>
        </p:spPr>
        <p:txBody>
          <a:bodyPr>
            <a:normAutofit/>
          </a:bodyPr>
          <a:lstStyle/>
          <a:p>
            <a:r>
              <a:rPr dirty="0"/>
              <a:t>Increase lift ticket prices to at least $94 per person</a:t>
            </a:r>
          </a:p>
          <a:p>
            <a:pPr lvl="1"/>
            <a:r>
              <a:rPr dirty="0"/>
              <a:t>Aligns Big Mountain Resort with average pricing in its market segment</a:t>
            </a:r>
          </a:p>
          <a:p>
            <a:pPr lvl="1"/>
            <a:r>
              <a:rPr dirty="0"/>
              <a:t>Expected to generate approximately $22.75M in additional annual revenue</a:t>
            </a:r>
            <a:r>
              <a:rPr lang="en-US" dirty="0"/>
              <a:t> (compared to $81 tickets)</a:t>
            </a:r>
            <a:endParaRPr dirty="0"/>
          </a:p>
          <a:p>
            <a:pPr lvl="1"/>
            <a:r>
              <a:rPr dirty="0"/>
              <a:t>Assumes ~350K visitors purchasing ~5 lift tickets each</a:t>
            </a:r>
          </a:p>
        </p:txBody>
      </p:sp>
      <p:cxnSp>
        <p:nvCxnSpPr>
          <p:cNvPr id="4103" name="Straight Connector 4102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7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09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11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13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15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17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19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Whitefish Mountain Resort Lodging">
            <a:extLst>
              <a:ext uri="{FF2B5EF4-FFF2-40B4-BE49-F238E27FC236}">
                <a16:creationId xmlns:a16="http://schemas.microsoft.com/office/drawing/2014/main" id="{69AAE26D-FC17-2FEA-DAEB-984CDD61F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" r="17591" b="-2"/>
          <a:stretch>
            <a:fillRect/>
          </a:stretch>
        </p:blipFill>
        <p:spPr bwMode="auto"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765" y="609600"/>
            <a:ext cx="4123267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Expansion Scenario: Increased Vertical Drop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2829456"/>
            <a:ext cx="5494866" cy="3880773"/>
          </a:xfrm>
        </p:spPr>
        <p:txBody>
          <a:bodyPr>
            <a:normAutofit/>
          </a:bodyPr>
          <a:lstStyle/>
          <a:p>
            <a:r>
              <a:rPr dirty="0"/>
              <a:t>Scenario includes adding a run 150 feet lower with an additional chair lift</a:t>
            </a:r>
          </a:p>
          <a:p>
            <a:pPr lvl="1"/>
            <a:r>
              <a:rPr dirty="0"/>
              <a:t>No additional snowmaking coverage required</a:t>
            </a:r>
          </a:p>
          <a:p>
            <a:pPr lvl="1"/>
            <a:r>
              <a:rPr dirty="0"/>
              <a:t>Supports an additional ticket price increase to $95 per person</a:t>
            </a:r>
          </a:p>
          <a:p>
            <a:pPr lvl="1"/>
            <a:r>
              <a:rPr dirty="0"/>
              <a:t>Estimated incremental revenue: $1.95M annually</a:t>
            </a:r>
          </a:p>
        </p:txBody>
      </p:sp>
      <p:cxnSp>
        <p:nvCxnSpPr>
          <p:cNvPr id="5127" name="Straight Connector 5126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9" name="Straight Connector 5128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1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33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35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37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39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41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43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6761" y="1573280"/>
            <a:ext cx="6808343" cy="3880773"/>
          </a:xfrm>
        </p:spPr>
        <p:txBody>
          <a:bodyPr/>
          <a:lstStyle/>
          <a:p>
            <a:r>
              <a:rPr dirty="0"/>
              <a:t>Comprehensive U.S. ski resort dataset cleaned and analyzed</a:t>
            </a:r>
          </a:p>
          <a:p>
            <a:pPr lvl="1"/>
            <a:r>
              <a:rPr dirty="0"/>
              <a:t>Exploratory data analysis identified key drivers of ticket prices</a:t>
            </a:r>
          </a:p>
          <a:p>
            <a:pPr lvl="1"/>
            <a:r>
              <a:rPr dirty="0"/>
              <a:t>Machine learning models built using Python and scikit-learn</a:t>
            </a:r>
          </a:p>
          <a:p>
            <a:pPr lvl="1"/>
            <a:r>
              <a:rPr dirty="0"/>
              <a:t>Random forest models provided the most consistent predictions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DA6748-EFFA-64E7-3DCF-400630421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31" y="3389858"/>
            <a:ext cx="4200360" cy="230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9644EE68-14F3-1194-92DA-B039AEEEC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374" y="3389859"/>
            <a:ext cx="4160734" cy="2308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Drivers of Ticket 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6366" y="1416717"/>
            <a:ext cx="7623838" cy="3392304"/>
          </a:xfrm>
        </p:spPr>
        <p:txBody>
          <a:bodyPr/>
          <a:lstStyle/>
          <a:p>
            <a:r>
              <a:rPr lang="en-US" dirty="0"/>
              <a:t>Skiable terrain size, m</a:t>
            </a:r>
            <a:r>
              <a:rPr dirty="0"/>
              <a:t>aximum vertical drop</a:t>
            </a:r>
            <a:r>
              <a:rPr lang="en-US" dirty="0"/>
              <a:t> and longest run length</a:t>
            </a:r>
          </a:p>
          <a:p>
            <a:r>
              <a:rPr dirty="0"/>
              <a:t>Snowmaking coverage area</a:t>
            </a:r>
            <a:r>
              <a:rPr lang="en-US" dirty="0"/>
              <a:t>, and days open per year</a:t>
            </a:r>
          </a:p>
          <a:p>
            <a:r>
              <a:rPr dirty="0"/>
              <a:t>Number of runs, lifts, and fast quad chairs</a:t>
            </a:r>
            <a:endParaRPr lang="en-US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42B8162-73AA-32DB-465C-B16827B41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16" y="2807117"/>
            <a:ext cx="3600953" cy="199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3C9E77C4-EB41-D5E1-ADD6-0E8DB278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155" y="2802952"/>
            <a:ext cx="3603810" cy="200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569BBE1-E106-0AE8-2911-F6D2BC1BF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74" y="4809021"/>
            <a:ext cx="3598095" cy="200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D562E87D-37FB-682C-E8B6-16F80C43A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155" y="4804856"/>
            <a:ext cx="3629531" cy="199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D8F8DD7-880F-99F6-E36E-E2B1D086F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776" y="2808492"/>
            <a:ext cx="3632390" cy="200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BBB908A-D0F9-3AFA-4E03-7270A7E4E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2673" y="4803481"/>
            <a:ext cx="3603493" cy="2000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9">
            <a:extLst>
              <a:ext uri="{FF2B5EF4-FFF2-40B4-BE49-F238E27FC236}">
                <a16:creationId xmlns:a16="http://schemas.microsoft.com/office/drawing/2014/main" id="{303BB5E5-1385-8C4D-AF08-F9E554C6D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C5B00F6B-E589-5FBB-E686-AF8E65256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714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6D049808-C837-7FDF-B678-5A81576E8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637" y="5576502"/>
            <a:ext cx="2167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E34DA14B-50E8-05A8-68E0-9D0B16B11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7359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F0FBD608-E820-AFB6-7BEA-B47F716E9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637" y="9234101"/>
            <a:ext cx="2167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96C94CCA-7DF2-F24B-EAA4-49B737D8D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1042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1065" y="2343818"/>
            <a:ext cx="7484534" cy="3880773"/>
          </a:xfrm>
        </p:spPr>
        <p:txBody>
          <a:bodyPr/>
          <a:lstStyle/>
          <a:p>
            <a:r>
              <a:rPr dirty="0"/>
              <a:t>Incorporate annual visitor volume and demand elasticity</a:t>
            </a:r>
          </a:p>
          <a:p>
            <a:pPr lvl="1"/>
            <a:r>
              <a:rPr dirty="0"/>
              <a:t>Introduce dynamic pricing by season, holidays, and snow conditions</a:t>
            </a:r>
          </a:p>
          <a:p>
            <a:pPr lvl="1"/>
            <a:r>
              <a:rPr dirty="0"/>
              <a:t>Evaluate value of uncrowded experience versus travel inconvenience</a:t>
            </a:r>
          </a:p>
          <a:p>
            <a:pPr lvl="1"/>
            <a:r>
              <a:rPr dirty="0"/>
              <a:t>Enhance revenue through experience-focused investments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FE711D5F-809E-2CA3-3C2E-8E14A2719C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2" r="21589" b="-2"/>
          <a:stretch>
            <a:fillRect/>
          </a:stretch>
        </p:blipFill>
        <p:spPr bwMode="auto"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479913"/>
            <a:ext cx="3851123" cy="13208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 and </a:t>
            </a:r>
            <a:r>
              <a:rPr dirty="0"/>
              <a:t>Premium Pricing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06" y="2293461"/>
            <a:ext cx="5966263" cy="3880773"/>
          </a:xfrm>
        </p:spPr>
        <p:txBody>
          <a:bodyPr>
            <a:normAutofit/>
          </a:bodyPr>
          <a:lstStyle/>
          <a:p>
            <a:r>
              <a:rPr lang="en-US" dirty="0"/>
              <a:t>Primary recommendation to increase lift ticket prices to at least $94 per person</a:t>
            </a:r>
          </a:p>
          <a:p>
            <a:r>
              <a:rPr lang="en-US" dirty="0"/>
              <a:t>Addition of a 150 ft run and a chair lift - $95 per person</a:t>
            </a:r>
          </a:p>
          <a:p>
            <a:r>
              <a:rPr dirty="0"/>
              <a:t>Focused analysis of comparable U.S. resorts </a:t>
            </a:r>
            <a:r>
              <a:rPr lang="en-US" dirty="0"/>
              <a:t>      </a:t>
            </a:r>
            <a:r>
              <a:rPr dirty="0"/>
              <a:t>suggests pricing potential of $100–$105</a:t>
            </a:r>
          </a:p>
          <a:p>
            <a:pPr lvl="1"/>
            <a:r>
              <a:rPr lang="en-US" dirty="0"/>
              <a:t>P</a:t>
            </a:r>
            <a:r>
              <a:rPr dirty="0"/>
              <a:t>osition Big Mountain Resort as a premium offering</a:t>
            </a:r>
          </a:p>
          <a:p>
            <a:pPr lvl="1"/>
            <a:r>
              <a:rPr dirty="0"/>
              <a:t>Justified by </a:t>
            </a:r>
            <a:r>
              <a:rPr lang="en-US" dirty="0"/>
              <a:t>outstanding</a:t>
            </a:r>
            <a:r>
              <a:rPr dirty="0"/>
              <a:t> terrain and </a:t>
            </a:r>
            <a:r>
              <a:rPr lang="en-US" dirty="0"/>
              <a:t>top</a:t>
            </a:r>
            <a:r>
              <a:rPr dirty="0"/>
              <a:t> facilities</a:t>
            </a:r>
          </a:p>
          <a:p>
            <a:pPr lvl="1"/>
            <a:r>
              <a:rPr dirty="0"/>
              <a:t>Represents upside beyond average market pricing</a:t>
            </a:r>
          </a:p>
        </p:txBody>
      </p:sp>
      <p:cxnSp>
        <p:nvCxnSpPr>
          <p:cNvPr id="3079" name="Straight Connector 307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8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8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8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9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9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9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C823-3704-7354-43CA-E60C26D8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9267" y="0"/>
            <a:ext cx="4512733" cy="2455333"/>
          </a:xfrm>
          <a:solidFill>
            <a:schemeClr val="bg1"/>
          </a:solidFill>
        </p:spPr>
        <p:txBody>
          <a:bodyPr/>
          <a:lstStyle/>
          <a:p>
            <a:pPr algn="r"/>
            <a:r>
              <a:rPr lang="en-US" sz="3600" dirty="0">
                <a:solidFill>
                  <a:srgbClr val="90C226"/>
                </a:solidFill>
                <a:effectLst/>
                <a:latin typeface="Trebuchet MS" panose="020B0603020202020204" pitchFamily="34" charset="0"/>
              </a:rPr>
              <a:t>Appendix: heatmap of correlations in the ski data for the US resorts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42EA36-9DF6-EEBF-CFE9-C6B5CAC6F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67" y="0"/>
            <a:ext cx="7526866" cy="689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9009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</TotalTime>
  <Words>352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Trebuchet MS</vt:lpstr>
      <vt:lpstr>Wingdings 3</vt:lpstr>
      <vt:lpstr>Facet</vt:lpstr>
      <vt:lpstr>Big Mountain Resort Ticket Pricing Strategy</vt:lpstr>
      <vt:lpstr>Business Context</vt:lpstr>
      <vt:lpstr>Primary Recommendation</vt:lpstr>
      <vt:lpstr>Expansion Scenario: Increased Vertical Drop</vt:lpstr>
      <vt:lpstr>Analytical Approach</vt:lpstr>
      <vt:lpstr>Key Drivers of Ticket Prices</vt:lpstr>
      <vt:lpstr>Future Opportunities</vt:lpstr>
      <vt:lpstr>Summary and Premium Pricing Opportunity</vt:lpstr>
      <vt:lpstr>Appendix: heatmap of correlations in the ski data for the US resorts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Vladimir Sofiyev</dc:creator>
  <cp:keywords/>
  <dc:description>generated using python-pptx</dc:description>
  <cp:lastModifiedBy>Vladimir Sofiyev</cp:lastModifiedBy>
  <cp:revision>5</cp:revision>
  <dcterms:created xsi:type="dcterms:W3CDTF">2013-01-27T09:14:16Z</dcterms:created>
  <dcterms:modified xsi:type="dcterms:W3CDTF">2026-03-10T20:15:46Z</dcterms:modified>
  <cp:category/>
</cp:coreProperties>
</file>